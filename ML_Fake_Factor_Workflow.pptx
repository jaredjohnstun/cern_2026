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6928" y="429768"/>
            <a:ext cx="100584" cy="100584"/>
          </a:xfrm>
          <a:prstGeom prst="ellipse">
            <a:avLst/>
          </a:prstGeom>
          <a:solidFill>
            <a:srgbClr val="2F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2F39A6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65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A90A6"/>
                </a:solidFill>
                <a:latin typeface="Arial"/>
              </a:rPr>
              <a:t>01  · 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61A26"/>
                </a:solidFill>
                <a:latin typeface="Arial"/>
              </a:rPr>
              <a:t>The GNN </a:t>
            </a:r>
            <a:r>
              <a:rPr sz="4000" b="1">
                <a:solidFill>
                  <a:srgbClr val="BD6F16"/>
                </a:solidFill>
                <a:latin typeface="Arial"/>
              </a:rPr>
              <a:t>is</a:t>
            </a:r>
            <a:r>
              <a:rPr sz="4000" b="1">
                <a:solidFill>
                  <a:srgbClr val="161A26"/>
                </a:solidFill>
                <a:latin typeface="Arial"/>
              </a:rPr>
              <a:t> the fake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65D75"/>
                </a:solidFill>
                <a:latin typeface="Arial"/>
              </a:rPr>
              <a:t>Keep everything the Fake Factor method does well — </a:t>
            </a:r>
            <a:r>
              <a:rPr sz="1450" b="1">
                <a:solidFill>
                  <a:srgbClr val="161A26"/>
                </a:solidFill>
                <a:latin typeface="Arial"/>
              </a:rPr>
              <a:t>the fake rate is measured in data</a:t>
            </a:r>
            <a:r>
              <a:rPr sz="1450" b="0">
                <a:solidFill>
                  <a:srgbClr val="565D75"/>
                </a:solidFill>
                <a:latin typeface="Arial"/>
              </a:rPr>
              <a:t> — but replace the coarse 1-D histogram with a smooth, high-dimensional function the network learns.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11091672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212848"/>
            <a:ext cx="54864" cy="841248"/>
          </a:xfrm>
          <a:prstGeom prst="rect">
            <a:avLst/>
          </a:prstGeom>
          <a:solidFill>
            <a:srgbClr val="BD6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47548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600" b="1">
                <a:solidFill>
                  <a:srgbClr val="161A26"/>
                </a:solidFill>
                <a:latin typeface="Consolas"/>
              </a:rPr>
              <a:t>FF(x) = </a:t>
            </a:r>
            <a:r>
              <a:rPr sz="2600" b="1">
                <a:solidFill>
                  <a:srgbClr val="BD6F16"/>
                </a:solidFill>
                <a:latin typeface="Consolas"/>
              </a:rPr>
              <a:t>p</a:t>
            </a:r>
            <a:r>
              <a:rPr sz="2600" b="1">
                <a:solidFill>
                  <a:srgbClr val="161A26"/>
                </a:solidFill>
                <a:latin typeface="Consolas"/>
              </a:rPr>
              <a:t>(x) / (1 − </a:t>
            </a:r>
            <a:r>
              <a:rPr sz="2600" b="1">
                <a:solidFill>
                  <a:srgbClr val="BD6F16"/>
                </a:solidFill>
                <a:latin typeface="Consolas"/>
              </a:rPr>
              <a:t>p</a:t>
            </a:r>
            <a:r>
              <a:rPr sz="2600" b="1">
                <a:solidFill>
                  <a:srgbClr val="161A26"/>
                </a:solidFill>
                <a:latin typeface="Consolas"/>
              </a:rPr>
              <a:t>(x))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286000"/>
            <a:ext cx="54864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65D75"/>
                </a:solidFill>
                <a:latin typeface="Arial"/>
              </a:rPr>
              <a:t>The classifier output </a:t>
            </a:r>
            <a:r>
              <a:rPr sz="1250" b="1">
                <a:solidFill>
                  <a:srgbClr val="BD6F16"/>
                </a:solidFill>
                <a:latin typeface="Consolas"/>
              </a:rPr>
              <a:t>p(x)</a:t>
            </a:r>
            <a:r>
              <a:rPr sz="1250" b="0">
                <a:solidFill>
                  <a:srgbClr val="565D75"/>
                </a:solidFill>
                <a:latin typeface="Arial"/>
              </a:rPr>
              <a:t> = P(pass τ-ID | x). Its </a:t>
            </a:r>
            <a:r>
              <a:rPr sz="1250" b="1">
                <a:solidFill>
                  <a:srgbClr val="161A26"/>
                </a:solidFill>
                <a:latin typeface="Arial"/>
              </a:rPr>
              <a:t>odds</a:t>
            </a:r>
            <a:r>
              <a:rPr sz="1250" b="0">
                <a:solidFill>
                  <a:srgbClr val="565D75"/>
                </a:solidFill>
                <a:latin typeface="Arial"/>
              </a:rPr>
              <a:t> are the per-candidate fake factor — the same number the binned method measures, now over 20+ variables.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200400"/>
            <a:ext cx="42062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>
                <a:solidFill>
                  <a:srgbClr val="8A90A6"/>
                </a:solidFill>
                <a:latin typeface="Arial"/>
              </a:rPr>
              <a:t>BINNED FAKE FACTOR — </a:t>
            </a:r>
            <a:r>
              <a:rPr lang="en-US" sz="1150" b="1" dirty="0">
                <a:solidFill>
                  <a:srgbClr val="8A90A6"/>
                </a:solidFill>
                <a:latin typeface="Arial"/>
              </a:rPr>
              <a:t>current method</a:t>
            </a:r>
            <a:endParaRPr sz="1150" b="1" dirty="0">
              <a:solidFill>
                <a:srgbClr val="8A90A6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320040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F39A6"/>
                </a:solidFill>
                <a:latin typeface="Arial"/>
              </a:rPr>
              <a:t>GNN FAKE FACTOR — 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1143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61A26"/>
                </a:solidFill>
                <a:latin typeface="Arial"/>
              </a:rPr>
              <a:t>Derive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37360" y="3511296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DF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61A26"/>
                </a:solidFill>
                <a:latin typeface="Arial"/>
              </a:rPr>
              <a:t>Histogram the ratio</a:t>
            </a:r>
          </a:p>
          <a:p>
            <a:r>
              <a:rPr sz="1100">
                <a:solidFill>
                  <a:srgbClr val="565D75"/>
                </a:solidFill>
                <a:latin typeface="Arial"/>
              </a:rPr>
              <a:t>ID / anti-ID in bins of τ pT, subtracted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3511296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8A90A6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511296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E7E9F7"/>
          </a:solidFill>
          <a:ln w="12700">
            <a:solidFill>
              <a:srgbClr val="2F3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61A26"/>
                </a:solidFill>
                <a:latin typeface="Arial"/>
              </a:rPr>
              <a:t>Train a classifier</a:t>
            </a:r>
          </a:p>
          <a:p>
            <a:r>
              <a:rPr sz="1100">
                <a:solidFill>
                  <a:srgbClr val="565D75"/>
                </a:solidFill>
                <a:latin typeface="Arial"/>
              </a:rPr>
              <a:t>ID vs. anti-ID on the same data → p(x)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70831"/>
            <a:ext cx="1143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61A26"/>
                </a:solidFill>
                <a:latin typeface="Arial"/>
              </a:rPr>
              <a:t>Store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37360" y="4370831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DF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61A26"/>
                </a:solidFill>
                <a:latin typeface="Arial"/>
              </a:rPr>
              <a:t>A 1-D histogram</a:t>
            </a:r>
          </a:p>
          <a:p>
            <a:r>
              <a:rPr sz="1100">
                <a:solidFill>
                  <a:srgbClr val="565D75"/>
                </a:solidFill>
                <a:latin typeface="Arial"/>
              </a:rPr>
              <a:t>FF(pT), split by prong &amp; 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370831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8A90A6"/>
                </a:solidFill>
                <a:latin typeface="Arial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370831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E7E9F7"/>
          </a:solidFill>
          <a:ln w="12700">
            <a:solidFill>
              <a:srgbClr val="2F3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61A26"/>
                </a:solidFill>
                <a:latin typeface="Arial"/>
              </a:rPr>
              <a:t>A trained network</a:t>
            </a:r>
          </a:p>
          <a:p>
            <a:r>
              <a:rPr sz="1100">
                <a:solidFill>
                  <a:srgbClr val="565D75"/>
                </a:solidFill>
                <a:latin typeface="Arial"/>
              </a:rPr>
              <a:t>one smooth function over the phase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30368"/>
            <a:ext cx="114300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61A26"/>
                </a:solidFill>
                <a:latin typeface="Arial"/>
              </a:rPr>
              <a:t>Apply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37360" y="5230368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DFE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61A26"/>
                </a:solidFill>
                <a:latin typeface="Arial"/>
              </a:rPr>
              <a:t>Bin lookup × anti-ID data</a:t>
            </a:r>
          </a:p>
          <a:p>
            <a:r>
              <a:rPr sz="1100">
                <a:solidFill>
                  <a:srgbClr val="565D75"/>
                </a:solidFill>
                <a:latin typeface="Arial"/>
              </a:rPr>
              <a:t>FindBin(pT) → weight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5230368"/>
            <a:ext cx="502920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8A90A6"/>
                </a:solidFill>
                <a:latin typeface="Arial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5230368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E7E9F7"/>
          </a:solidFill>
          <a:ln w="12700">
            <a:solidFill>
              <a:srgbClr val="2F39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Ins="109728" bIns="54864" rtlCol="0" anchor="ctr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161A26"/>
                </a:solidFill>
                <a:latin typeface="Arial"/>
              </a:rPr>
              <a:t>FF(x) × anti-ID data</a:t>
            </a:r>
          </a:p>
          <a:p>
            <a:r>
              <a:rPr sz="1100">
                <a:solidFill>
                  <a:srgbClr val="565D75"/>
                </a:solidFill>
                <a:latin typeface="Arial"/>
              </a:rPr>
              <a:t>same slot in the chain — evaluate the net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6144768"/>
            <a:ext cx="11091672" cy="512064"/>
          </a:xfrm>
          <a:prstGeom prst="roundRect">
            <a:avLst>
              <a:gd name="adj" fmla="val 16000"/>
            </a:avLst>
          </a:prstGeom>
          <a:solidFill>
            <a:srgbClr val="2F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6144768"/>
            <a:ext cx="105156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rial"/>
              </a:rPr>
              <a:t>The central rate is measured in data.</a:t>
            </a:r>
            <a:r>
              <a:rPr sz="1300" b="0">
                <a:solidFill>
                  <a:srgbClr val="D7DAF2"/>
                </a:solidFill>
                <a:latin typeface="Arial"/>
              </a:rPr>
              <a:t>   MC enters only for closure and the CR→SR systematic.</a:t>
            </a:r>
            <a:r>
              <a:rPr sz="1200" b="0">
                <a:solidFill>
                  <a:srgbClr val="B9BEE6"/>
                </a:solidFill>
                <a:latin typeface="Arial"/>
              </a:rPr>
              <a:t>        HH → bb ττ · lep-had · SLT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66928" y="429768"/>
            <a:ext cx="100584" cy="100584"/>
          </a:xfrm>
          <a:prstGeom prst="ellipse">
            <a:avLst/>
          </a:prstGeom>
          <a:solidFill>
            <a:srgbClr val="2F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9808" y="3657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2F39A6"/>
                </a:solidFill>
                <a:latin typeface="Arial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365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>
                <a:solidFill>
                  <a:srgbClr val="8A90A6"/>
                </a:solidFill>
                <a:latin typeface="Arial"/>
              </a:rPr>
              <a:t>02  ·  FROM DATA TO FAKE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>
                <a:solidFill>
                  <a:srgbClr val="161A26"/>
                </a:solidFill>
                <a:latin typeface="Arial"/>
              </a:rPr>
              <a:t>One data-driven </a:t>
            </a:r>
            <a:r>
              <a:rPr sz="4000" b="1">
                <a:solidFill>
                  <a:srgbClr val="BD6F16"/>
                </a:solidFill>
                <a:latin typeface="Arial"/>
              </a:rPr>
              <a:t>pipeline</a:t>
            </a:r>
            <a:r>
              <a:rPr sz="4000" b="1">
                <a:solidFill>
                  <a:srgbClr val="161A26"/>
                </a:solidFill>
                <a:latin typeface="Arial"/>
              </a:rPr>
              <a:t>, four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565D75"/>
                </a:solidFill>
                <a:latin typeface="Arial"/>
              </a:rPr>
              <a:t>The same two frameworks the analysis already uses — </a:t>
            </a:r>
            <a:r>
              <a:rPr sz="1450" b="1">
                <a:solidFill>
                  <a:srgbClr val="161A26"/>
                </a:solidFill>
                <a:latin typeface="Arial"/>
              </a:rPr>
              <a:t>HHARD</a:t>
            </a:r>
            <a:r>
              <a:rPr sz="1450" b="0">
                <a:solidFill>
                  <a:srgbClr val="565D75"/>
                </a:solidFill>
                <a:latin typeface="Arial"/>
              </a:rPr>
              <a:t> makes the H5, </a:t>
            </a:r>
            <a:r>
              <a:rPr sz="1450" b="1">
                <a:solidFill>
                  <a:srgbClr val="161A26"/>
                </a:solidFill>
                <a:latin typeface="Arial"/>
              </a:rPr>
              <a:t>SALT / run3mltoolkit</a:t>
            </a:r>
            <a:r>
              <a:rPr sz="1450" b="0">
                <a:solidFill>
                  <a:srgbClr val="565D75"/>
                </a:solidFill>
                <a:latin typeface="Arial"/>
              </a:rPr>
              <a:t> trains the network. We add a fake-vs-ID head; nothing else changes.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bIns="128016" rtlCol="0" anchor="ctr"/>
          <a:lstStyle/>
          <a:p>
            <a:pPr algn="ctr"/>
            <a:r>
              <a:rPr sz="1100" b="1">
                <a:solidFill>
                  <a:srgbClr val="2F39A6"/>
                </a:solidFill>
                <a:latin typeface="Arial"/>
              </a:rPr>
              <a:t>HHARD · EXPORT</a:t>
            </a:r>
          </a:p>
          <a:p>
            <a:pPr>
              <a:spcBef>
                <a:spcPts val="300"/>
              </a:spcBef>
            </a:pPr>
            <a:r>
              <a:rPr sz="1650" b="1">
                <a:solidFill>
                  <a:srgbClr val="161A26"/>
                </a:solidFill>
                <a:latin typeface="Arial"/>
              </a:rPr>
              <a:t>Build the H5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Data in ID (TL) &amp; anti-ID (TA)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true-τ MC in both regions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no signal, no MC-fake templates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2615184" cy="64008"/>
          </a:xfrm>
          <a:prstGeom prst="rect">
            <a:avLst/>
          </a:prstGeom>
          <a:solidFill>
            <a:srgbClr val="2F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63824" y="2468880"/>
            <a:ext cx="211226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>
                <a:solidFill>
                  <a:srgbClr val="8A90A6"/>
                </a:solidFill>
                <a:latin typeface="Arial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050" y="2468880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bIns="128016" rtlCol="0" anchor="ctr"/>
          <a:lstStyle/>
          <a:p>
            <a:pPr algn="ctr"/>
            <a:r>
              <a:rPr sz="1100" b="1">
                <a:solidFill>
                  <a:srgbClr val="565D75"/>
                </a:solidFill>
                <a:latin typeface="Arial"/>
              </a:rPr>
              <a:t>PREPROCESS</a:t>
            </a:r>
          </a:p>
          <a:p>
            <a:pPr>
              <a:spcBef>
                <a:spcPts val="300"/>
              </a:spcBef>
            </a:pPr>
            <a:r>
              <a:rPr sz="1650" b="1">
                <a:solidFill>
                  <a:srgbClr val="161A26"/>
                </a:solidFill>
                <a:latin typeface="Arial"/>
              </a:rPr>
              <a:t>Label &amp; subtract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target is_idfake from filename
(TL→1, TA→0)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true-τ subtraction as a weight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merge into SALT folds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5050" y="2468880"/>
            <a:ext cx="2615184" cy="64008"/>
          </a:xfrm>
          <a:prstGeom prst="rect">
            <a:avLst/>
          </a:prstGeom>
          <a:solidFill>
            <a:srgbClr val="565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0234" y="2468880"/>
            <a:ext cx="211226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>
                <a:solidFill>
                  <a:srgbClr val="8A90A6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1460" y="2468880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bIns="128016" rtlCol="0" anchor="ctr"/>
          <a:lstStyle/>
          <a:p>
            <a:pPr algn="ctr"/>
            <a:r>
              <a:rPr sz="1100" b="1">
                <a:solidFill>
                  <a:srgbClr val="BD6F16"/>
                </a:solidFill>
                <a:latin typeface="Arial"/>
              </a:rPr>
              <a:t>SALT · GNN</a:t>
            </a:r>
          </a:p>
          <a:p>
            <a:pPr>
              <a:spcBef>
                <a:spcPts val="300"/>
              </a:spcBef>
            </a:pPr>
            <a:r>
              <a:rPr sz="1650" b="1">
                <a:solidFill>
                  <a:srgbClr val="161A26"/>
                </a:solidFill>
                <a:latin typeface="Arial"/>
              </a:rPr>
              <a:t>Train the classifier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ID vs. anti-ID on subtracted data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inputs: τ kin, RNN, prong + topology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output p(x)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1460" y="2468880"/>
            <a:ext cx="2615184" cy="64008"/>
          </a:xfrm>
          <a:prstGeom prst="rect">
            <a:avLst/>
          </a:prstGeom>
          <a:solidFill>
            <a:srgbClr val="BD6F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16644" y="2468880"/>
            <a:ext cx="211226" cy="3017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0">
                <a:solidFill>
                  <a:srgbClr val="8A90A6"/>
                </a:solidFill>
                <a:latin typeface="Arial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7871" y="2468880"/>
            <a:ext cx="261518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D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82880" rIns="128016" bIns="128016" rtlCol="0" anchor="ctr"/>
          <a:lstStyle/>
          <a:p>
            <a:pPr algn="ctr"/>
            <a:r>
              <a:rPr sz="1100" b="1">
                <a:solidFill>
                  <a:srgbClr val="0F7A60"/>
                </a:solidFill>
                <a:latin typeface="Arial"/>
              </a:rPr>
              <a:t>APPLY</a:t>
            </a:r>
          </a:p>
          <a:p>
            <a:pPr>
              <a:spcBef>
                <a:spcPts val="300"/>
              </a:spcBef>
            </a:pPr>
            <a:r>
              <a:rPr sz="1650" b="1">
                <a:solidFill>
                  <a:srgbClr val="161A26"/>
                </a:solidFill>
                <a:latin typeface="Arial"/>
              </a:rPr>
              <a:t>Predict the fakes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weight anti-ID data by FF(x)</a:t>
            </a:r>
          </a:p>
          <a:p>
            <a:pPr>
              <a:spcBef>
                <a:spcPts val="700"/>
              </a:spcBef>
            </a:pPr>
            <a:r>
              <a:rPr sz="1150">
                <a:solidFill>
                  <a:srgbClr val="565D75"/>
                </a:solidFill>
                <a:latin typeface="Arial"/>
              </a:rPr>
              <a:t>•  = fake yield in the Signal Region</a:t>
            </a:r>
          </a:p>
          <a:p>
            <a:pPr>
              <a:spcBef>
                <a:spcPts val="1200"/>
              </a:spcBef>
            </a:pPr>
            <a:r>
              <a:rPr sz="1350" b="1">
                <a:solidFill>
                  <a:srgbClr val="0F7A60"/>
                </a:solidFill>
                <a:latin typeface="Consolas"/>
              </a:rPr>
              <a:t>FF(x) = p / (1 − p)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7871" y="2468880"/>
            <a:ext cx="2615184" cy="64008"/>
          </a:xfrm>
          <a:prstGeom prst="rect">
            <a:avLst/>
          </a:prstGeom>
          <a:solidFill>
            <a:srgbClr val="0F7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17"/>
          <p:cNvCxnSpPr/>
          <p:nvPr/>
        </p:nvCxnSpPr>
        <p:spPr>
          <a:xfrm>
            <a:off x="548640" y="5806440"/>
            <a:ext cx="11091672" cy="0"/>
          </a:xfrm>
          <a:prstGeom prst="bentConnector3">
            <a:avLst/>
          </a:prstGeom>
          <a:ln w="12700">
            <a:solidFill>
              <a:srgbClr val="DBDF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" y="5971031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D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5971031"/>
            <a:ext cx="196596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0F7A60"/>
                </a:solidFill>
                <a:latin typeface="Arial"/>
              </a:rPr>
              <a:t>MEASURED IN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5971031"/>
            <a:ext cx="8961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0">
                <a:solidFill>
                  <a:srgbClr val="565D75"/>
                </a:solidFill>
                <a:latin typeface="Arial"/>
              </a:rPr>
              <a:t>The </a:t>
            </a:r>
            <a:r>
              <a:rPr sz="1350" b="1">
                <a:solidFill>
                  <a:srgbClr val="161A26"/>
                </a:solidFill>
                <a:latin typeface="Arial"/>
              </a:rPr>
              <a:t>rate</a:t>
            </a:r>
            <a:r>
              <a:rPr sz="1350" b="0">
                <a:solidFill>
                  <a:srgbClr val="565D75"/>
                </a:solidFill>
                <a:latin typeface="Arial"/>
              </a:rPr>
              <a:t> flows from data at every step. MC only ever validates it — it never sets the central prediction.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8A90A6"/>
                </a:solidFill>
                <a:latin typeface="Arial"/>
              </a:rPr>
              <a:t>ML-Learned Fake Factor for τhad · HH → bb ττ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>
                <a:solidFill>
                  <a:srgbClr val="8A90A6"/>
                </a:solidFill>
                <a:latin typeface="Arial"/>
              </a:rPr>
              <a:t>Shahzad Ali · California State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439</Words>
  <Application>Microsoft Macintosh PowerPoint</Application>
  <PresentationFormat>Widescreen</PresentationFormat>
  <Paragraphs>58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Consolas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Shahzad Ali khan</cp:lastModifiedBy>
  <cp:revision>2</cp:revision>
  <dcterms:created xsi:type="dcterms:W3CDTF">2013-01-27T09:14:16Z</dcterms:created>
  <dcterms:modified xsi:type="dcterms:W3CDTF">2026-07-03T18:30:08Z</dcterms:modified>
  <cp:category/>
</cp:coreProperties>
</file>